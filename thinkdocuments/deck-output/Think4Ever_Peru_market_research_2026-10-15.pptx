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849cfd9424340" /><Relationship Type="http://schemas.openxmlformats.org/officeDocument/2006/relationships/extended-properties" Target="/docProps/app.xml" Id="R45ceaccda5fe4ea2" /><Relationship Type="http://schemas.openxmlformats.org/officeDocument/2006/relationships/officeDocument" Target="/ppt/presentation.xml" Id="Rbc7790a26f5642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c9f577ea44f8b"/>
  </p:sldMasterIdLst>
  <p:notesMasterIdLst>
    <p:notesMasterId xmlns:r="http://schemas.openxmlformats.org/officeDocument/2006/relationships" r:id="Rd66c5fad8a514d6f"/>
  </p:notesMasterIdLst>
  <p:sldIdLst>
    <p:sldId xmlns:r="http://schemas.openxmlformats.org/officeDocument/2006/relationships" id="256" r:id="R65ea3e4ad53445b3"/>
    <p:sldId xmlns:r="http://schemas.openxmlformats.org/officeDocument/2006/relationships" id="257" r:id="R0622dd9fb46e4918"/>
    <p:sldId xmlns:r="http://schemas.openxmlformats.org/officeDocument/2006/relationships" id="258" r:id="Rebb7d91ab8d44769"/>
    <p:sldId xmlns:r="http://schemas.openxmlformats.org/officeDocument/2006/relationships" id="259" r:id="Rf5dfdda97f104fde"/>
    <p:sldId xmlns:r="http://schemas.openxmlformats.org/officeDocument/2006/relationships" id="260" r:id="R41cc9dae4a3d4e8f"/>
    <p:sldId xmlns:r="http://schemas.openxmlformats.org/officeDocument/2006/relationships" id="261" r:id="R64c65bbe868b45e9"/>
    <p:sldId xmlns:r="http://schemas.openxmlformats.org/officeDocument/2006/relationships" id="262" r:id="Rfb905ba72fef4c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b1ce20e9d44982" /><Relationship Type="http://schemas.openxmlformats.org/officeDocument/2006/relationships/slideMaster" Target="/ppt/slideMasters/slideMaster1.xml" Id="R8e6c9f577ea44f8b" /><Relationship Type="http://schemas.openxmlformats.org/officeDocument/2006/relationships/notesMaster" Target="/ppt/notesMasters/notesMaster1.xml" Id="Rd66c5fad8a514d6f" /><Relationship Type="http://schemas.openxmlformats.org/officeDocument/2006/relationships/presProps" Target="/ppt/presProps.xml" Id="Rbdc83c0bc81048c2" /><Relationship Type="http://schemas.openxmlformats.org/officeDocument/2006/relationships/tableStyles" Target="/ppt/tableStyles.xml" Id="Re9f66a30ad3e4a7b" /><Relationship Type="http://schemas.openxmlformats.org/officeDocument/2006/relationships/slide" Target="/ppt/slides/slide1.xml" Id="R65ea3e4ad53445b3" /><Relationship Type="http://schemas.openxmlformats.org/officeDocument/2006/relationships/slide" Target="/ppt/slides/slide2.xml" Id="R0622dd9fb46e4918" /><Relationship Type="http://schemas.openxmlformats.org/officeDocument/2006/relationships/slide" Target="/ppt/slides/slide3.xml" Id="Rebb7d91ab8d44769" /><Relationship Type="http://schemas.openxmlformats.org/officeDocument/2006/relationships/slide" Target="/ppt/slides/slide4.xml" Id="Rf5dfdda97f104fde" /><Relationship Type="http://schemas.openxmlformats.org/officeDocument/2006/relationships/slide" Target="/ppt/slides/slide5.xml" Id="R41cc9dae4a3d4e8f" /><Relationship Type="http://schemas.openxmlformats.org/officeDocument/2006/relationships/slide" Target="/ppt/slides/slide6.xml" Id="R64c65bbe868b45e9" /><Relationship Type="http://schemas.openxmlformats.org/officeDocument/2006/relationships/slide" Target="/ppt/slides/slide7.xml" Id="Rfb905ba72fef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7472b1515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dc2e3afe2e4e1b" /><Relationship Type="http://schemas.openxmlformats.org/officeDocument/2006/relationships/notesMaster" Target="/ppt/notesMasters/notesMaster1.xml" Id="R6777c63b696048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ac1d2ad3b449a0" /><Relationship Type="http://schemas.openxmlformats.org/officeDocument/2006/relationships/notesMaster" Target="/ppt/notesMasters/notesMaster1.xml" Id="R7d7282bc2173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69d7c5d55f462c" /><Relationship Type="http://schemas.openxmlformats.org/officeDocument/2006/relationships/notesMaster" Target="/ppt/notesMasters/notesMaster1.xml" Id="R94e4f5f42f494f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5d7dd94de7443c" /><Relationship Type="http://schemas.openxmlformats.org/officeDocument/2006/relationships/notesMaster" Target="/ppt/notesMasters/notesMaster1.xml" Id="R0ba9ee76e020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460218ed8547ab" /><Relationship Type="http://schemas.openxmlformats.org/officeDocument/2006/relationships/notesMaster" Target="/ppt/notesMasters/notesMaster1.xml" Id="R78bb51685aad4c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4c302b2e154c55" /><Relationship Type="http://schemas.openxmlformats.org/officeDocument/2006/relationships/notesMaster" Target="/ppt/notesMasters/notesMaster1.xml" Id="R3cd7eaf9a8254f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067ed308cd439d" /><Relationship Type="http://schemas.openxmlformats.org/officeDocument/2006/relationships/notesMaster" Target="/ppt/notesMasters/notesMaster1.xml" Id="R11e45800ef9f4c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1052b1306a432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cc7cf6c39f44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269a567b04f3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dc08ccb1a46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bff79387d449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b831e289d4f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F628F8-94B7-4D6F-A244-BE44B77D7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055C9A-C368-41FF-A1F7-42E065355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56A85F6-7A1B-4403-BA68-E1410DC836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C67AA3C-5DCA-4ED7-86FD-09B8E372C1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35C24EB-76C2-441A-B513-95C00A631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F8E3B9-ED66-4A75-BF36-6FC25C885F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6CD992-D518-40FB-B992-A5EDFDD6F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4305341-80D5-4974-B951-CD54C6D5A1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55693A-F6A2-404D-9BED-A32C3D4A18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AA62DC-00BC-46C2-A452-54A8FED95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a974237abe423e" /><Relationship Type="http://schemas.openxmlformats.org/officeDocument/2006/relationships/slideLayout" Target="/ppt/slideLayouts/slideLayout1.xml" Id="R515c445838cf4a17" /><Relationship Type="http://schemas.openxmlformats.org/officeDocument/2006/relationships/slideLayout" Target="/ppt/slideLayouts/slideLayout2.xml" Id="R3445ebe654194941" /><Relationship Type="http://schemas.openxmlformats.org/officeDocument/2006/relationships/slideLayout" Target="/ppt/slideLayouts/slideLayout3.xml" Id="R7219d9a3d991446a" /><Relationship Type="http://schemas.openxmlformats.org/officeDocument/2006/relationships/slideLayout" Target="/ppt/slideLayouts/slideLayout4.xml" Id="R5ee195d4e6834f80" /><Relationship Type="http://schemas.openxmlformats.org/officeDocument/2006/relationships/slideLayout" Target="/ppt/slideLayouts/slideLayout5.xml" Id="R989402cadb1142f3" /><Relationship Type="http://schemas.openxmlformats.org/officeDocument/2006/relationships/slideLayout" Target="/ppt/slideLayouts/slideLayout6.xml" Id="R180bdb9d9ca3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5c445838cf4a17"/>
    <p:sldLayoutId xmlns:r="http://schemas.openxmlformats.org/officeDocument/2006/relationships" id="2147483650" r:id="R3445ebe654194941"/>
    <p:sldLayoutId xmlns:r="http://schemas.openxmlformats.org/officeDocument/2006/relationships" id="2147483651" r:id="R7219d9a3d991446a"/>
    <p:sldLayoutId xmlns:r="http://schemas.openxmlformats.org/officeDocument/2006/relationships" id="2147483652" r:id="R5ee195d4e6834f80"/>
    <p:sldLayoutId xmlns:r="http://schemas.openxmlformats.org/officeDocument/2006/relationships" id="2147483653" r:id="R989402cadb1142f3"/>
    <p:sldLayoutId xmlns:r="http://schemas.openxmlformats.org/officeDocument/2006/relationships" id="2147483654" r:id="R180bdb9d9ca3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ec6620daaf470c" /><Relationship Type="http://schemas.openxmlformats.org/officeDocument/2006/relationships/notesSlide" Target="/ppt/notesSlides/notesSlide1.xml" Id="R0a26449c82b848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a4df4d8d1b498e" /><Relationship Type="http://schemas.openxmlformats.org/officeDocument/2006/relationships/notesSlide" Target="/ppt/notesSlides/notesSlide2.xml" Id="R62efb8c821b1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ce4c120a04400" /><Relationship Type="http://schemas.openxmlformats.org/officeDocument/2006/relationships/notesSlide" Target="/ppt/notesSlides/notesSlide3.xml" Id="R97506577a9ca4b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090f20836434c" /><Relationship Type="http://schemas.openxmlformats.org/officeDocument/2006/relationships/notesSlide" Target="/ppt/notesSlides/notesSlide4.xml" Id="R018b7c2c550c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257a2d6ad42e5" /><Relationship Type="http://schemas.openxmlformats.org/officeDocument/2006/relationships/notesSlide" Target="/ppt/notesSlides/notesSlide5.xml" Id="R1c8aab89025c48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96a44911674f24" /><Relationship Type="http://schemas.openxmlformats.org/officeDocument/2006/relationships/notesSlide" Target="/ppt/notesSlides/notesSlide6.xml" Id="R9c8aa449b2aa49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f40b1f365d48ab" /><Relationship Type="http://schemas.openxmlformats.org/officeDocument/2006/relationships/notesSlide" Target="/ppt/notesSlides/notesSlide7.xml" Id="Re997950649244e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7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F2E86-D5C2-4D3A-9F15-52C80C0F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think4ever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782BB-0FEF-46EB-839F-B25E50F5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Perú</a:t>
            </a:r>
          </a:p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Market Research &amp;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D8CA7-B459-4242-B4E4-803D8997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CE7F4"/>
                </a:solidFill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DCE7F4"/>
                </a:solidFill>
              </a:defRPr>
            </a:pPr>
            <a:r>
              <a:rPr sz="1500" b="0">
                <a:solidFill>
                  <a:srgbClr val="DCE7F4"/>
                </a:solidFill>
              </a:rPr>
              <a:t>Corte de datos: 15 de octubre de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2899-DBA0-4D7E-A8B5-23EFF8C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DCE7F4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CE7F4"/>
                </a:solidFill>
              </a:defRPr>
            </a:pPr>
            <a:r>
              <a:rPr sz="1350" b="0">
                <a:solidFill>
                  <a:srgbClr val="DCE7F4"/>
                </a:solidFill>
              </a:rPr>
              <a:t>Indicadores publicados, fuentes y límites de cobertura</a:t>
            </a:r>
          </a:p>
        </p:txBody>
      </p:sp>
    </p:spTree>
    <p:extLst>
      <p:ext uri="{BB962C8B-B14F-4D97-AF65-F5344CB8AC3E}">
        <p14:creationId xmlns:p14="http://schemas.microsoft.com/office/powerpoint/2010/main" val="1803542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E87ED-EF76-43AF-9C8C-C0ED1405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RESUMEN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E5A53-05C2-491C-8CBC-654CCE0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Perú: cobertura de datos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DB730-495C-4580-98CD-6AC66E1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8DACA-1EA8-4181-9646-163EA92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El estudio reúne indicadores nacionales, 25 departamentos y capas distritales cuando la fuente incluye UBIGEO.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19 checks técnicos aprobados. Las fuentes con universos, años o definiciones incompatibles no se consolidan en un total artificial.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B8EE6-E9A3-4B27-9267-942D4F0F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Fuentes y periodos en el workbook de Perú</a:t>
            </a:r>
          </a:p>
        </p:txBody>
      </p:sp>
    </p:spTree>
    <p:extLst>
      <p:ext uri="{BB962C8B-B14F-4D97-AF65-F5344CB8AC3E}">
        <p14:creationId xmlns:p14="http://schemas.microsoft.com/office/powerpoint/2010/main" val="17393190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EAFB74-12A6-4A00-8130-7799C9D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CAPAS A Y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177B9-FB30-47D6-B99F-DB6DEB5B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Desarrolladores y actividad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ABF1B-2E54-4C0E-B08C-06F81C5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6286B-0B71-424A-B561-FD670912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GitHub Innovation Graph y Stack Overflow alimentan los indicadores nacionales de desarrolladores, organizaciones, actividad y uso de tecnología.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El workbook conserva valor, periodo, fuente y limitación por cada métrica. Las tasas se comparan contra el mismo trimestre del año anterior.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5B8E9-6AD6-46C8-89CE-95123FDA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Fuentes y periodos en el workbook de Perú</a:t>
            </a:r>
          </a:p>
        </p:txBody>
      </p:sp>
    </p:spTree>
    <p:extLst>
      <p:ext uri="{BB962C8B-B14F-4D97-AF65-F5344CB8AC3E}">
        <p14:creationId xmlns:p14="http://schemas.microsoft.com/office/powerpoint/2010/main" val="16167602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639A2-5D87-4A6D-AF81-D70C6DD3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CAPAS C Y 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63E33-37CE-4C01-921F-D74DA671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Educación superior y talento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15C53-887C-4B2C-801F-D503485B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A3B6-DC4A-450C-9EF9-A6833CD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TUNI/SUNEDU: matrícula reportada 2025-2 por departamento y distrito; egresados 2024 por departamento y distrito; ingresantes 2025 sólo a escala nacional.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MINEDU: matrícula y oferta superior no universitaria por departamento. Modalidad y capacidad comparables no tienen todavía una fuente nacional homogénea.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9E88F-AE02-45F0-9AE4-3AD9E3D1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Fuentes y periodos en el workbook de Perú</a:t>
            </a:r>
          </a:p>
        </p:txBody>
      </p:sp>
    </p:spTree>
    <p:extLst>
      <p:ext uri="{BB962C8B-B14F-4D97-AF65-F5344CB8AC3E}">
        <p14:creationId xmlns:p14="http://schemas.microsoft.com/office/powerpoint/2010/main" val="1084543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B6A71-C505-4DC1-9A15-B0A897CA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CAPAS D, F, G, H, J, M Y 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A6D2F5-BFAD-40BF-8195-55F62C8F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Empleo, empresas y territorio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3F3F5-7C6D-4781-A55C-94DF599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F8550-94C2-48EC-81EC-C252DA4D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EPEN y ENAHO sostienen mediciones de empleo y perfiles ocupacionales. SUNAT agrega RUC TIC por CIIU y ubicación fiscal, además de locales registrados con UBIGEO.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Los registros RUC no equivalen a empleo, ventas, tamaño legal, empresas únicas ni demanda comercial.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2DCC3-2FCD-45DA-B754-D747B1D6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Fuentes y periodos en el workbook de Perú</a:t>
            </a:r>
          </a:p>
        </p:txBody>
      </p:sp>
    </p:spTree>
    <p:extLst>
      <p:ext uri="{BB962C8B-B14F-4D97-AF65-F5344CB8AC3E}">
        <p14:creationId xmlns:p14="http://schemas.microsoft.com/office/powerpoint/2010/main" val="344411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40D64E-AE6C-430C-AC54-485125BD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CAPAS K Y 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A242D-7352-4F5C-A6A0-41B3E3A6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Escuelas y contexto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03DAFE-D99B-442E-9288-6EC2088E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E0DF2-D621-4510-A1EC-FC3D39D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El mapa carga 15.700 servicios educativos secundarios y sus agregados territoriales. ERESTEL/OSIPTEL aporta indicadores de contexto digital.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Los escenarios de patrocinio permanecen fuera de los resultados hasta contar con supuestos y evidencia aprobados.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B503D-3C72-47D3-968F-B9FBD9E2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Fuentes y periodos en el workbook de Perú</a:t>
            </a:r>
          </a:p>
        </p:txBody>
      </p:sp>
    </p:spTree>
    <p:extLst>
      <p:ext uri="{BB962C8B-B14F-4D97-AF65-F5344CB8AC3E}">
        <p14:creationId xmlns:p14="http://schemas.microsoft.com/office/powerpoint/2010/main" val="1570675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9BC4B-AD68-4D66-BA56-DF5DE6C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58220"/>
                </a:solidFill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58220"/>
                </a:solidFill>
              </a:defRPr>
            </a:pPr>
            <a:r>
              <a:rPr sz="1050" b="1">
                <a:solidFill>
                  <a:srgbClr val="F58220"/>
                </a:solidFill>
              </a:rPr>
              <a:t>CAPAS Q Y 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A8D22A-3664-40D9-BA73-658E7C92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B72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73B72"/>
                </a:solidFill>
              </a:defRPr>
            </a:pPr>
            <a:r>
              <a:rPr sz="2550" b="1">
                <a:solidFill>
                  <a:srgbClr val="173B72"/>
                </a:solidFill>
              </a:rPr>
              <a:t>Geografía, auditoría y límites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1CE37-10DF-47AE-AF31-949735B3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173B7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C9032-CF95-4633-A058-7C4BA11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001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8263D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IGN aporta límites departamentales y distritales. La auditoría confirma cobertura de los indicadores territoriales publicados en los 25 departamentos.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8263D"/>
                </a:solidFill>
              </a:defRPr>
            </a:pPr>
            <a:r>
              <a:rPr sz="1650" b="0">
                <a:solidFill>
                  <a:srgbClr val="18263D"/>
                </a:solidFill>
              </a:rPr>
              <a:t>Pendientes: capacidad y modalidad superior; universo legal de micronegocios; patrocinios; conciliación aprobada de negocio entre fuentes.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5A833B-A188-45DC-AE08-8FB239B6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0657F"/>
                </a:solidFill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0657F"/>
                </a:solidFill>
              </a:defRPr>
            </a:pPr>
            <a:r>
              <a:rPr sz="900" b="0">
                <a:solidFill>
                  <a:srgbClr val="50657F"/>
                </a:solidFill>
              </a:rPr>
              <a:t>Ver detalle reproducible en el workbook, scripts y JSON del repositorio</a:t>
            </a:r>
          </a:p>
        </p:txBody>
      </p:sp>
    </p:spTree>
    <p:extLst>
      <p:ext uri="{BB962C8B-B14F-4D97-AF65-F5344CB8AC3E}">
        <p14:creationId xmlns:p14="http://schemas.microsoft.com/office/powerpoint/2010/main" val="1111331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2026-10-15T15:34:36.6010000Z</dcterms:created>
  <dcterms:modified xsi:type="dcterms:W3CDTF">2026-10-15T15:34:36.6010000Z</dcterms:modified>
</coreProperties>
</file>